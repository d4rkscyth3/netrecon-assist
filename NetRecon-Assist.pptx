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4630400" cy="8229600"/>
  <p:notesSz cx="8229600" cy="14630400"/>
  <p:embeddedFontLst>
    <p:embeddedFont>
      <p:font typeface="Corben" panose="020F0503020000020004" pitchFamily="34" charset="0"/>
      <p:regular r:id="rId11"/>
      <p:bold r:id="rId12"/>
    </p:embeddedFont>
    <p:embeddedFont>
      <p:font typeface="Nobile" panose="020B0604020202020204" charset="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393702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035720" y="3760410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 err="1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NetRecon</a:t>
            </a:r>
            <a:r>
              <a:rPr lang="en-US" sz="44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-Assist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4035720" y="4631992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Next-Gen IP Port Scanner &amp; Security Analyzer for Beginners</a:t>
            </a:r>
            <a:endParaRPr lang="en-US" sz="1750" dirty="0"/>
          </a:p>
        </p:txBody>
      </p:sp>
      <p:sp>
        <p:nvSpPr>
          <p:cNvPr id="9" name="Text 0">
            <a:extLst>
              <a:ext uri="{FF2B5EF4-FFF2-40B4-BE49-F238E27FC236}">
                <a16:creationId xmlns:a16="http://schemas.microsoft.com/office/drawing/2014/main" id="{2D29E423-2376-9421-00FD-6FB1A0312C47}"/>
              </a:ext>
            </a:extLst>
          </p:cNvPr>
          <p:cNvSpPr/>
          <p:nvPr/>
        </p:nvSpPr>
        <p:spPr>
          <a:xfrm>
            <a:off x="9502902" y="5084294"/>
            <a:ext cx="1883030" cy="1799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2000" dirty="0">
                <a:solidFill>
                  <a:srgbClr val="1B1B27"/>
                </a:solidFill>
                <a:latin typeface="Corben" pitchFamily="34" charset="0"/>
              </a:rPr>
              <a:t>D4rkScyth3</a:t>
            </a:r>
            <a:endParaRPr lang="en-US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4CDEE61-114D-4F7B-8AAC-9E2BF14D67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0"/>
            <a:ext cx="14630400" cy="266737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46885"/>
            <a:ext cx="897362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Project Introduction &amp; Philosophy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909292"/>
            <a:ext cx="4196358" cy="2592348"/>
          </a:xfrm>
          <a:prstGeom prst="roundRect">
            <a:avLst>
              <a:gd name="adj" fmla="val 3675"/>
            </a:avLst>
          </a:prstGeom>
          <a:solidFill>
            <a:schemeClr val="tx1">
              <a:lumMod val="50000"/>
              <a:lumOff val="50000"/>
            </a:schemeClr>
          </a:solidFill>
          <a:ln w="7620">
            <a:solidFill>
              <a:srgbClr val="B8BFD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28224" y="3143726"/>
            <a:ext cx="680442" cy="680442"/>
          </a:xfrm>
          <a:prstGeom prst="roundRect">
            <a:avLst>
              <a:gd name="adj" fmla="val 13436980"/>
            </a:avLst>
          </a:prstGeom>
          <a:solidFill>
            <a:schemeClr val="tx1">
              <a:lumMod val="65000"/>
              <a:lumOff val="35000"/>
            </a:schemeClr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15390" y="3330773"/>
            <a:ext cx="306110" cy="3061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8224" y="405098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Net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28224" y="4541401"/>
            <a:ext cx="372749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Networking concepts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5224582" y="2909292"/>
            <a:ext cx="4196358" cy="2592348"/>
          </a:xfrm>
          <a:prstGeom prst="roundRect">
            <a:avLst>
              <a:gd name="adj" fmla="val 3675"/>
            </a:avLst>
          </a:prstGeom>
          <a:solidFill>
            <a:schemeClr val="tx1">
              <a:lumMod val="50000"/>
              <a:lumOff val="50000"/>
            </a:schemeClr>
          </a:solidFill>
          <a:ln w="7620">
            <a:solidFill>
              <a:srgbClr val="B8BFD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51396" y="3179274"/>
            <a:ext cx="680442" cy="680442"/>
          </a:xfrm>
          <a:prstGeom prst="roundRect">
            <a:avLst>
              <a:gd name="adj" fmla="val 13436980"/>
            </a:avLst>
          </a:prstGeom>
          <a:solidFill>
            <a:schemeClr val="tx1">
              <a:lumMod val="65000"/>
              <a:lumOff val="35000"/>
            </a:schemeClr>
          </a:solidFill>
          <a:ln/>
        </p:spPr>
        <p:txBody>
          <a:bodyPr/>
          <a:lstStyle/>
          <a:p>
            <a:endParaRPr lang="en-IN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38562" y="3365004"/>
            <a:ext cx="306110" cy="30611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51396" y="405098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Corben" pitchFamily="34" charset="0"/>
              </a:rPr>
              <a:t>Recon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5451396" y="4541401"/>
            <a:ext cx="372749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Scanning network entry points</a:t>
            </a:r>
            <a:endParaRPr lang="en-US" sz="1750" dirty="0"/>
          </a:p>
        </p:txBody>
      </p:sp>
      <p:sp>
        <p:nvSpPr>
          <p:cNvPr id="13" name="Shape 9"/>
          <p:cNvSpPr/>
          <p:nvPr/>
        </p:nvSpPr>
        <p:spPr>
          <a:xfrm>
            <a:off x="9640133" y="2909292"/>
            <a:ext cx="4196358" cy="2592348"/>
          </a:xfrm>
          <a:prstGeom prst="roundRect">
            <a:avLst>
              <a:gd name="adj" fmla="val 3675"/>
            </a:avLst>
          </a:prstGeom>
          <a:solidFill>
            <a:schemeClr val="tx1">
              <a:lumMod val="50000"/>
              <a:lumOff val="50000"/>
            </a:schemeClr>
          </a:solidFill>
          <a:ln w="7620">
            <a:solidFill>
              <a:srgbClr val="B8BFDF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9874568" y="3143726"/>
            <a:ext cx="680442" cy="680442"/>
          </a:xfrm>
          <a:prstGeom prst="roundRect">
            <a:avLst>
              <a:gd name="adj" fmla="val 13436980"/>
            </a:avLst>
          </a:prstGeom>
          <a:solidFill>
            <a:schemeClr val="tx1">
              <a:lumMod val="65000"/>
              <a:lumOff val="35000"/>
            </a:schemeClr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61734" y="3330773"/>
            <a:ext cx="306110" cy="30611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874568" y="405098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-Assist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9874568" y="4541401"/>
            <a:ext cx="372749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Guiding users for learning</a:t>
            </a:r>
            <a:endParaRPr lang="en-US" sz="1750" dirty="0"/>
          </a:p>
        </p:txBody>
      </p:sp>
      <p:sp>
        <p:nvSpPr>
          <p:cNvPr id="18" name="Text 13"/>
          <p:cNvSpPr/>
          <p:nvPr/>
        </p:nvSpPr>
        <p:spPr>
          <a:xfrm>
            <a:off x="793790" y="5756791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An educational security tool that helps beginners understand networking easily by turning raw scan data into clear and practical security advice.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5808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Core Capabilities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360652"/>
            <a:ext cx="6407944" cy="2040493"/>
          </a:xfrm>
          <a:prstGeom prst="roundRect">
            <a:avLst>
              <a:gd name="adj" fmla="val 7170"/>
            </a:avLst>
          </a:prstGeom>
          <a:solidFill>
            <a:srgbClr val="F9F9FF">
              <a:alpha val="9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93790" y="2330172"/>
            <a:ext cx="6407944" cy="121920"/>
          </a:xfrm>
          <a:prstGeom prst="roundRect">
            <a:avLst>
              <a:gd name="adj" fmla="val 78139"/>
            </a:avLst>
          </a:prstGeom>
          <a:solidFill>
            <a:schemeClr val="tx1">
              <a:lumMod val="50000"/>
              <a:lumOff val="50000"/>
            </a:schemeClr>
          </a:solidFill>
          <a:ln/>
        </p:spPr>
      </p:sp>
      <p:sp>
        <p:nvSpPr>
          <p:cNvPr id="5" name="Shape 3"/>
          <p:cNvSpPr/>
          <p:nvPr/>
        </p:nvSpPr>
        <p:spPr>
          <a:xfrm>
            <a:off x="3657540" y="2020491"/>
            <a:ext cx="680442" cy="680442"/>
          </a:xfrm>
          <a:prstGeom prst="roundRect">
            <a:avLst>
              <a:gd name="adj" fmla="val 134383"/>
            </a:avLst>
          </a:prstGeom>
          <a:solidFill>
            <a:schemeClr val="tx1">
              <a:lumMod val="75000"/>
              <a:lumOff val="25000"/>
            </a:schemeClr>
          </a:solidFill>
          <a:ln/>
        </p:spPr>
      </p:sp>
      <p:sp>
        <p:nvSpPr>
          <p:cNvPr id="6" name="Text 4"/>
          <p:cNvSpPr/>
          <p:nvPr/>
        </p:nvSpPr>
        <p:spPr>
          <a:xfrm>
            <a:off x="3861614" y="2190631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1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051084" y="292762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Versatile Scanning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51084" y="3418046"/>
            <a:ext cx="589335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Full ports scan ,Common ports scan, or Specific port scan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7428548" y="2360652"/>
            <a:ext cx="6408063" cy="2040493"/>
          </a:xfrm>
          <a:prstGeom prst="roundRect">
            <a:avLst>
              <a:gd name="adj" fmla="val 7170"/>
            </a:avLst>
          </a:prstGeom>
          <a:solidFill>
            <a:srgbClr val="F9F9FF">
              <a:alpha val="9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7428548" y="2330172"/>
            <a:ext cx="6408063" cy="121920"/>
          </a:xfrm>
          <a:prstGeom prst="roundRect">
            <a:avLst>
              <a:gd name="adj" fmla="val 78139"/>
            </a:avLst>
          </a:prstGeom>
          <a:solidFill>
            <a:schemeClr val="tx1">
              <a:lumMod val="50000"/>
              <a:lumOff val="50000"/>
            </a:schemeClr>
          </a:solidFill>
          <a:ln/>
        </p:spPr>
      </p:sp>
      <p:sp>
        <p:nvSpPr>
          <p:cNvPr id="11" name="Shape 9"/>
          <p:cNvSpPr/>
          <p:nvPr/>
        </p:nvSpPr>
        <p:spPr>
          <a:xfrm>
            <a:off x="10292298" y="2020491"/>
            <a:ext cx="680442" cy="680442"/>
          </a:xfrm>
          <a:prstGeom prst="roundRect">
            <a:avLst>
              <a:gd name="adj" fmla="val 134383"/>
            </a:avLst>
          </a:prstGeom>
          <a:solidFill>
            <a:schemeClr val="tx1">
              <a:lumMod val="75000"/>
              <a:lumOff val="25000"/>
            </a:schemeClr>
          </a:solidFill>
          <a:ln/>
        </p:spPr>
      </p:sp>
      <p:sp>
        <p:nvSpPr>
          <p:cNvPr id="12" name="Text 10"/>
          <p:cNvSpPr/>
          <p:nvPr/>
        </p:nvSpPr>
        <p:spPr>
          <a:xfrm>
            <a:off x="10496371" y="2190631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2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7685842" y="2927628"/>
            <a:ext cx="372939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Intelligent Service Detection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685842" y="3418046"/>
            <a:ext cx="589347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Banner grabbing helps to know which service is running on a port.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793790" y="4968121"/>
            <a:ext cx="6407944" cy="2403396"/>
          </a:xfrm>
          <a:prstGeom prst="roundRect">
            <a:avLst>
              <a:gd name="adj" fmla="val 6087"/>
            </a:avLst>
          </a:prstGeom>
          <a:solidFill>
            <a:srgbClr val="F9F9FF">
              <a:alpha val="9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793790" y="4937641"/>
            <a:ext cx="6407944" cy="121920"/>
          </a:xfrm>
          <a:prstGeom prst="roundRect">
            <a:avLst>
              <a:gd name="adj" fmla="val 78139"/>
            </a:avLst>
          </a:prstGeom>
          <a:solidFill>
            <a:schemeClr val="tx1">
              <a:lumMod val="50000"/>
              <a:lumOff val="50000"/>
            </a:schemeClr>
          </a:solidFill>
          <a:ln/>
        </p:spPr>
      </p:sp>
      <p:sp>
        <p:nvSpPr>
          <p:cNvPr id="17" name="Shape 15"/>
          <p:cNvSpPr/>
          <p:nvPr/>
        </p:nvSpPr>
        <p:spPr>
          <a:xfrm>
            <a:off x="3657540" y="4627959"/>
            <a:ext cx="680442" cy="680442"/>
          </a:xfrm>
          <a:prstGeom prst="roundRect">
            <a:avLst>
              <a:gd name="adj" fmla="val 134383"/>
            </a:avLst>
          </a:prstGeom>
          <a:solidFill>
            <a:schemeClr val="tx1">
              <a:lumMod val="75000"/>
              <a:lumOff val="25000"/>
            </a:schemeClr>
          </a:solidFill>
          <a:ln/>
        </p:spPr>
      </p:sp>
      <p:sp>
        <p:nvSpPr>
          <p:cNvPr id="18" name="Text 16"/>
          <p:cNvSpPr/>
          <p:nvPr/>
        </p:nvSpPr>
        <p:spPr>
          <a:xfrm>
            <a:off x="3861614" y="4798100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3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1051084" y="553509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Risk Categorization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051084" y="6025515"/>
            <a:ext cx="589335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Automatically labels ports as </a:t>
            </a:r>
            <a:r>
              <a:rPr lang="en-US" sz="1750" b="1" dirty="0">
                <a:solidFill>
                  <a:schemeClr val="bg2">
                    <a:lumMod val="25000"/>
                  </a:schemeClr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CRITICAL</a:t>
            </a: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, </a:t>
            </a:r>
            <a:r>
              <a:rPr lang="en-US" sz="1750" b="1" dirty="0">
                <a:solidFill>
                  <a:schemeClr val="bg2">
                    <a:lumMod val="25000"/>
                  </a:schemeClr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HIGH</a:t>
            </a: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, or </a:t>
            </a:r>
            <a:r>
              <a:rPr lang="en-US" sz="1750" b="1" dirty="0">
                <a:solidFill>
                  <a:schemeClr val="bg2">
                    <a:lumMod val="25000"/>
                  </a:schemeClr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LOW</a:t>
            </a: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risk.</a:t>
            </a:r>
            <a:endParaRPr lang="en-US" sz="1750" dirty="0"/>
          </a:p>
        </p:txBody>
      </p:sp>
      <p:sp>
        <p:nvSpPr>
          <p:cNvPr id="21" name="Shape 19"/>
          <p:cNvSpPr/>
          <p:nvPr/>
        </p:nvSpPr>
        <p:spPr>
          <a:xfrm>
            <a:off x="7428548" y="4968121"/>
            <a:ext cx="6408063" cy="2403396"/>
          </a:xfrm>
          <a:prstGeom prst="roundRect">
            <a:avLst>
              <a:gd name="adj" fmla="val 6087"/>
            </a:avLst>
          </a:prstGeom>
          <a:solidFill>
            <a:srgbClr val="F9F9FF">
              <a:alpha val="95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7428548" y="4937641"/>
            <a:ext cx="6408063" cy="121920"/>
          </a:xfrm>
          <a:prstGeom prst="roundRect">
            <a:avLst>
              <a:gd name="adj" fmla="val 78139"/>
            </a:avLst>
          </a:prstGeom>
          <a:solidFill>
            <a:schemeClr val="tx1">
              <a:lumMod val="50000"/>
              <a:lumOff val="50000"/>
            </a:schemeClr>
          </a:solidFill>
          <a:ln/>
        </p:spPr>
      </p:sp>
      <p:sp>
        <p:nvSpPr>
          <p:cNvPr id="23" name="Shape 21"/>
          <p:cNvSpPr/>
          <p:nvPr/>
        </p:nvSpPr>
        <p:spPr>
          <a:xfrm>
            <a:off x="10292298" y="4627959"/>
            <a:ext cx="680442" cy="680442"/>
          </a:xfrm>
          <a:prstGeom prst="roundRect">
            <a:avLst>
              <a:gd name="adj" fmla="val 134383"/>
            </a:avLst>
          </a:prstGeom>
          <a:solidFill>
            <a:schemeClr val="tx1">
              <a:lumMod val="75000"/>
              <a:lumOff val="25000"/>
            </a:schemeClr>
          </a:solidFill>
          <a:ln/>
        </p:spPr>
      </p:sp>
      <p:sp>
        <p:nvSpPr>
          <p:cNvPr id="24" name="Text 22"/>
          <p:cNvSpPr/>
          <p:nvPr/>
        </p:nvSpPr>
        <p:spPr>
          <a:xfrm>
            <a:off x="10496371" y="4798100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4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7685842" y="5535097"/>
            <a:ext cx="328457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IN" sz="24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Unnecessary</a:t>
            </a:r>
            <a:r>
              <a:rPr lang="en-US" sz="22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 Port Identification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7685842" y="6025515"/>
            <a:ext cx="589347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Identify open ports where no service is detected.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1071" y="1015365"/>
            <a:ext cx="6000869" cy="5763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36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Why It's Built for Beginners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9524524" y="2083475"/>
            <a:ext cx="92154" cy="92154"/>
          </a:xfrm>
          <a:prstGeom prst="roundRect">
            <a:avLst>
              <a:gd name="adj" fmla="val 496126"/>
            </a:avLst>
          </a:prstGeom>
          <a:solidFill>
            <a:schemeClr val="tx1">
              <a:lumMod val="75000"/>
              <a:lumOff val="25000"/>
            </a:schemeClr>
          </a:solidFill>
          <a:ln/>
        </p:spPr>
      </p:sp>
      <p:sp>
        <p:nvSpPr>
          <p:cNvPr id="5" name="Text 2"/>
          <p:cNvSpPr/>
          <p:nvPr/>
        </p:nvSpPr>
        <p:spPr>
          <a:xfrm>
            <a:off x="9766697" y="1985486"/>
            <a:ext cx="2305764" cy="288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Simplified Concepts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9766697" y="2423755"/>
            <a:ext cx="3920133" cy="8022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It explains technical concepts in simple language.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9524524" y="3414701"/>
            <a:ext cx="92154" cy="92154"/>
          </a:xfrm>
          <a:prstGeom prst="roundRect">
            <a:avLst>
              <a:gd name="adj" fmla="val 496126"/>
            </a:avLst>
          </a:prstGeom>
          <a:solidFill>
            <a:schemeClr val="tx1">
              <a:lumMod val="75000"/>
              <a:lumOff val="25000"/>
            </a:schemeClr>
          </a:solidFill>
          <a:ln/>
        </p:spPr>
      </p:sp>
      <p:sp>
        <p:nvSpPr>
          <p:cNvPr id="8" name="Text 5"/>
          <p:cNvSpPr/>
          <p:nvPr/>
        </p:nvSpPr>
        <p:spPr>
          <a:xfrm>
            <a:off x="9766697" y="3316713"/>
            <a:ext cx="2748320" cy="288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Educational Descriptions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9766697" y="3754982"/>
            <a:ext cx="3920133" cy="5348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404155"/>
                </a:solidFill>
                <a:latin typeface="Nobile" pitchFamily="34" charset="0"/>
              </a:rPr>
              <a:t>Its helps beginners learn while scanning ports.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9524524" y="4831058"/>
            <a:ext cx="92154" cy="92154"/>
          </a:xfrm>
          <a:prstGeom prst="roundRect">
            <a:avLst>
              <a:gd name="adj" fmla="val 496126"/>
            </a:avLst>
          </a:prstGeom>
          <a:solidFill>
            <a:schemeClr val="tx1">
              <a:lumMod val="75000"/>
              <a:lumOff val="25000"/>
            </a:schemeClr>
          </a:solidFill>
          <a:ln/>
        </p:spPr>
      </p:sp>
      <p:sp>
        <p:nvSpPr>
          <p:cNvPr id="11" name="Text 8"/>
          <p:cNvSpPr/>
          <p:nvPr/>
        </p:nvSpPr>
        <p:spPr>
          <a:xfrm>
            <a:off x="9766697" y="4733069"/>
            <a:ext cx="2305764" cy="288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Plain Text Logic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9766697" y="5171338"/>
            <a:ext cx="3920133" cy="5348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404155"/>
                </a:solidFill>
                <a:latin typeface="Nobile" pitchFamily="34" charset="0"/>
              </a:rPr>
              <a:t>It shows results in an easy-to-read format.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9524524" y="5994023"/>
            <a:ext cx="92154" cy="92154"/>
          </a:xfrm>
          <a:prstGeom prst="roundRect">
            <a:avLst>
              <a:gd name="adj" fmla="val 496126"/>
            </a:avLst>
          </a:prstGeom>
          <a:solidFill>
            <a:schemeClr val="tx1">
              <a:lumMod val="75000"/>
              <a:lumOff val="25000"/>
            </a:schemeClr>
          </a:solidFill>
          <a:ln/>
        </p:spPr>
      </p:sp>
      <p:sp>
        <p:nvSpPr>
          <p:cNvPr id="14" name="Text 11"/>
          <p:cNvSpPr/>
          <p:nvPr/>
        </p:nvSpPr>
        <p:spPr>
          <a:xfrm>
            <a:off x="9766697" y="5896035"/>
            <a:ext cx="3124319" cy="288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Local Learning Environment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9766697" y="6334304"/>
            <a:ext cx="3920133" cy="8817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It allows safe practice on your own system. (127.0.0.1)</a:t>
            </a:r>
            <a:endParaRPr lang="en-US" sz="145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DC90BA4-BB21-C2B2-3F84-8457DD6ECAE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954" r="18907" b="954"/>
          <a:stretch>
            <a:fillRect/>
          </a:stretch>
        </p:blipFill>
        <p:spPr>
          <a:xfrm>
            <a:off x="708700" y="1985487"/>
            <a:ext cx="8225980" cy="492740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74489" y="1179433"/>
            <a:ext cx="7771448" cy="6022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Deep Vulnerability (CVE) Analysis</a:t>
            </a:r>
            <a:endParaRPr lang="en-US" sz="37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3">
            <a:grayscl/>
          </a:blip>
          <a:stretch>
            <a:fillRect/>
          </a:stretch>
        </p:blipFill>
        <p:spPr>
          <a:xfrm>
            <a:off x="674489" y="2027277"/>
            <a:ext cx="963692" cy="13550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801892" y="2219920"/>
            <a:ext cx="2959418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CVE Database Integration</a:t>
            </a:r>
            <a:endParaRPr lang="en-US" sz="1850" dirty="0"/>
          </a:p>
        </p:txBody>
      </p:sp>
      <p:sp>
        <p:nvSpPr>
          <p:cNvPr id="6" name="Text 2"/>
          <p:cNvSpPr/>
          <p:nvPr/>
        </p:nvSpPr>
        <p:spPr>
          <a:xfrm>
            <a:off x="1801892" y="2619375"/>
            <a:ext cx="6667619" cy="5703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Helps find known vulnerabilities from a CVE local database.</a:t>
            </a:r>
            <a:endParaRPr lang="en-US" sz="15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4">
            <a:grayscl/>
          </a:blip>
          <a:stretch>
            <a:fillRect/>
          </a:stretch>
        </p:blipFill>
        <p:spPr>
          <a:xfrm>
            <a:off x="674489" y="3382328"/>
            <a:ext cx="963692" cy="135505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801892" y="3574971"/>
            <a:ext cx="2409230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Exploit Visualization</a:t>
            </a:r>
            <a:endParaRPr lang="en-US" sz="1850" dirty="0"/>
          </a:p>
        </p:txBody>
      </p:sp>
      <p:sp>
        <p:nvSpPr>
          <p:cNvPr id="9" name="Text 4"/>
          <p:cNvSpPr/>
          <p:nvPr/>
        </p:nvSpPr>
        <p:spPr>
          <a:xfrm>
            <a:off x="1801892" y="3974425"/>
            <a:ext cx="6667619" cy="5703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Explains how attackers exploit security weakness.</a:t>
            </a:r>
            <a:endParaRPr lang="en-US" sz="15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5">
            <a:grayscl/>
          </a:blip>
          <a:stretch>
            <a:fillRect/>
          </a:stretch>
        </p:blipFill>
        <p:spPr>
          <a:xfrm>
            <a:off x="674489" y="4737378"/>
            <a:ext cx="963692" cy="115633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801892" y="4930021"/>
            <a:ext cx="2409230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Severity Scoring</a:t>
            </a:r>
            <a:endParaRPr lang="en-US" sz="1850" dirty="0"/>
          </a:p>
        </p:txBody>
      </p:sp>
      <p:sp>
        <p:nvSpPr>
          <p:cNvPr id="12" name="Text 6"/>
          <p:cNvSpPr/>
          <p:nvPr/>
        </p:nvSpPr>
        <p:spPr>
          <a:xfrm>
            <a:off x="1801892" y="5329476"/>
            <a:ext cx="6667619" cy="2851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Shows how serious each vulnerability is using severity scores.</a:t>
            </a:r>
            <a:endParaRPr lang="en-US" sz="15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6">
            <a:grayscl/>
          </a:blip>
          <a:stretch>
            <a:fillRect/>
          </a:stretch>
        </p:blipFill>
        <p:spPr>
          <a:xfrm>
            <a:off x="674489" y="5893713"/>
            <a:ext cx="963692" cy="1156335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801892" y="6086356"/>
            <a:ext cx="3155698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404155"/>
                </a:solidFill>
                <a:latin typeface="Corben" pitchFamily="34" charset="0"/>
              </a:rPr>
              <a:t>Matching with past attacks</a:t>
            </a:r>
            <a:endParaRPr lang="en-US" sz="1850" dirty="0"/>
          </a:p>
        </p:txBody>
      </p:sp>
      <p:sp>
        <p:nvSpPr>
          <p:cNvPr id="15" name="Text 8"/>
          <p:cNvSpPr/>
          <p:nvPr/>
        </p:nvSpPr>
        <p:spPr>
          <a:xfrm>
            <a:off x="1801892" y="6485811"/>
            <a:ext cx="6667619" cy="2851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404155"/>
                </a:solidFill>
                <a:latin typeface="Nobile" pitchFamily="34" charset="0"/>
              </a:rPr>
              <a:t>Provide real examples of past cyber attacks.</a:t>
            </a:r>
            <a:endParaRPr lang="en-US" sz="15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C8320BC-B0CF-7A6F-F04A-A287A4CEBED2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/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colorTemperature colorTemp="5849"/>
                    </a14:imgEffect>
                    <a14:imgEffect>
                      <a14:saturation sat="61000"/>
                    </a14:imgEffect>
                  </a14:imgLayer>
                </a14:imgProps>
              </a:ext>
            </a:extLst>
          </a:blip>
          <a:srcRect r="11231" b="7101"/>
          <a:stretch>
            <a:fillRect/>
          </a:stretch>
        </p:blipFill>
        <p:spPr>
          <a:xfrm>
            <a:off x="8802477" y="0"/>
            <a:ext cx="5827923" cy="82296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04593"/>
            <a:ext cx="1028926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Actionable Security Recommendations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667000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Corben Light" pitchFamily="34" charset="0"/>
                <a:ea typeface="Corben Light" pitchFamily="34" charset="-122"/>
                <a:cs typeface="Corben Light" pitchFamily="34" charset="-120"/>
              </a:rPr>
              <a:t>01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022044"/>
            <a:ext cx="6407944" cy="3048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/>
        </p:spPr>
      </p:sp>
      <p:sp>
        <p:nvSpPr>
          <p:cNvPr id="5" name="Text 3"/>
          <p:cNvSpPr/>
          <p:nvPr/>
        </p:nvSpPr>
        <p:spPr>
          <a:xfrm>
            <a:off x="793790" y="3196352"/>
            <a:ext cx="346126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Step-by-Step fixes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3686770"/>
            <a:ext cx="640794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Gives clear steps and commands to fix security problems/ not just find them.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428548" y="2667000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Corben Light" pitchFamily="34" charset="0"/>
                <a:ea typeface="Corben Light" pitchFamily="34" charset="-122"/>
                <a:cs typeface="Corben Light" pitchFamily="34" charset="-120"/>
              </a:rPr>
              <a:t>02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7428548" y="3022044"/>
            <a:ext cx="6408063" cy="3048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/>
        </p:spPr>
      </p:sp>
      <p:sp>
        <p:nvSpPr>
          <p:cNvPr id="9" name="Text 7"/>
          <p:cNvSpPr/>
          <p:nvPr/>
        </p:nvSpPr>
        <p:spPr>
          <a:xfrm>
            <a:off x="7428548" y="319635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Linux/Unix Support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428548" y="3686770"/>
            <a:ext cx="640806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Shows simple </a:t>
            </a:r>
            <a:r>
              <a:rPr lang="en-US" sz="1750" dirty="0" err="1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systemctl</a:t>
            </a: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commands to stop or disable unsafe services.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93790" y="480941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Corben Light" pitchFamily="34" charset="0"/>
                <a:ea typeface="Corben Light" pitchFamily="34" charset="-122"/>
                <a:cs typeface="Corben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93790" y="5164455"/>
            <a:ext cx="6407944" cy="3048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/>
        </p:spPr>
      </p:sp>
      <p:sp>
        <p:nvSpPr>
          <p:cNvPr id="13" name="Text 11"/>
          <p:cNvSpPr/>
          <p:nvPr/>
        </p:nvSpPr>
        <p:spPr>
          <a:xfrm>
            <a:off x="793790" y="533876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Windows Support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93790" y="5829181"/>
            <a:ext cx="640794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Explains how to fix issues using windows tools like Services and Control Panel.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428548" y="480941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Corben Light" pitchFamily="34" charset="0"/>
                <a:ea typeface="Corben Light" pitchFamily="34" charset="-122"/>
                <a:cs typeface="Corben Light" pitchFamily="34" charset="-120"/>
              </a:rPr>
              <a:t>04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428548" y="5164455"/>
            <a:ext cx="6408063" cy="3048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/>
        </p:spPr>
      </p:sp>
      <p:sp>
        <p:nvSpPr>
          <p:cNvPr id="17" name="Text 15"/>
          <p:cNvSpPr/>
          <p:nvPr/>
        </p:nvSpPr>
        <p:spPr>
          <a:xfrm>
            <a:off x="7428548" y="5338763"/>
            <a:ext cx="316218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Alternative Suggestions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428548" y="5829181"/>
            <a:ext cx="640806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Suggests safer options, such as using SFTP instead of FTP.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280190" y="1614607"/>
            <a:ext cx="581679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The Security Principle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2663547"/>
            <a:ext cx="3664744" cy="2039422"/>
          </a:xfrm>
          <a:prstGeom prst="roundRect">
            <a:avLst>
              <a:gd name="adj" fmla="val 4671"/>
            </a:avLst>
          </a:prstGeom>
          <a:solidFill>
            <a:schemeClr val="tx1">
              <a:lumMod val="50000"/>
              <a:lumOff val="50000"/>
            </a:schemeClr>
          </a:solidFill>
          <a:ln w="7620">
            <a:solidFill>
              <a:srgbClr val="B8BFD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14624" y="2897981"/>
            <a:ext cx="3195876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Attack Surface Reduction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514624" y="3742730"/>
            <a:ext cx="319587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i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"Fewer open ports = Fewer chances for attack"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10171748" y="2663547"/>
            <a:ext cx="3664863" cy="2039422"/>
          </a:xfrm>
          <a:prstGeom prst="roundRect">
            <a:avLst>
              <a:gd name="adj" fmla="val 4671"/>
            </a:avLst>
          </a:prstGeom>
          <a:solidFill>
            <a:schemeClr val="tx1">
              <a:lumMod val="50000"/>
              <a:lumOff val="50000"/>
            </a:schemeClr>
          </a:solidFill>
          <a:ln w="7620">
            <a:solidFill>
              <a:srgbClr val="B8BFD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406182" y="289798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Proactive Defense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406182" y="3388400"/>
            <a:ext cx="319599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Close unused ports before attackers find them.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6280190" y="4929783"/>
            <a:ext cx="7556421" cy="1685092"/>
          </a:xfrm>
          <a:prstGeom prst="roundRect">
            <a:avLst>
              <a:gd name="adj" fmla="val 5654"/>
            </a:avLst>
          </a:prstGeom>
          <a:solidFill>
            <a:schemeClr val="tx1">
              <a:lumMod val="50000"/>
              <a:lumOff val="50000"/>
            </a:schemeClr>
          </a:solidFill>
          <a:ln w="7620">
            <a:solidFill>
              <a:srgbClr val="B8BFD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14624" y="516421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Stepping Stone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514624" y="5654635"/>
            <a:ext cx="708755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</a:rPr>
              <a:t>Helps beginners move from basic knowledge to advance tools.</a:t>
            </a:r>
            <a:endParaRPr lang="en-US" sz="175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7B5DA3D-04CB-ECB1-D64F-BE69B83CBE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600884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788925" y="619958"/>
            <a:ext cx="3415229" cy="58359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00"/>
              </a:lnSpc>
              <a:buNone/>
            </a:pPr>
            <a:r>
              <a:rPr lang="en-US" sz="66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learning Makes Security Strong</a:t>
            </a:r>
          </a:p>
        </p:txBody>
      </p:sp>
      <p:sp>
        <p:nvSpPr>
          <p:cNvPr id="4" name="Text 1"/>
          <p:cNvSpPr/>
          <p:nvPr/>
        </p:nvSpPr>
        <p:spPr>
          <a:xfrm>
            <a:off x="6269355" y="6543437"/>
            <a:ext cx="7578090" cy="10662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 err="1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NetRecon</a:t>
            </a: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-Assist helps beginners understand networking and security in an easy and practice way.</a:t>
            </a:r>
            <a:endParaRPr lang="en-US" sz="175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D719D07-8114-178A-F1BF-055691CA4D36}"/>
              </a:ext>
            </a:extLst>
          </p:cNvPr>
          <p:cNvPicPr>
            <a:picLocks noChangeAspect="1"/>
          </p:cNvPicPr>
          <p:nvPr/>
        </p:nvPicPr>
        <p:blipFill>
          <a:blip r:embed="rId3">
            <a:grayscl/>
          </a:blip>
          <a:srcRect l="34578" r="34819" b="8474"/>
          <a:stretch>
            <a:fillRect/>
          </a:stretch>
        </p:blipFill>
        <p:spPr>
          <a:xfrm>
            <a:off x="0" y="0"/>
            <a:ext cx="6004193" cy="8229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</TotalTime>
  <Words>349</Words>
  <Application>Microsoft Office PowerPoint</Application>
  <PresentationFormat>Custom</PresentationFormat>
  <Paragraphs>72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Corben</vt:lpstr>
      <vt:lpstr>Nobile</vt:lpstr>
      <vt:lpstr>Arial</vt:lpstr>
      <vt:lpstr>Corben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vishnu Prajapat</cp:lastModifiedBy>
  <cp:revision>4</cp:revision>
  <dcterms:created xsi:type="dcterms:W3CDTF">2026-02-03T07:04:17Z</dcterms:created>
  <dcterms:modified xsi:type="dcterms:W3CDTF">2026-04-02T16:10:50Z</dcterms:modified>
</cp:coreProperties>
</file>